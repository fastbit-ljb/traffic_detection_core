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1c8d97b3144bab" /><Relationship Type="http://schemas.openxmlformats.org/officeDocument/2006/relationships/extended-properties" Target="/docProps/app.xml" Id="R04fae268f81a49d3" /><Relationship Type="http://schemas.openxmlformats.org/officeDocument/2006/relationships/officeDocument" Target="/ppt/presentation.xml" Id="Racd9287873174f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b059ed82c74516"/>
  </p:sldMasterIdLst>
  <p:notesMasterIdLst>
    <p:notesMasterId xmlns:r="http://schemas.openxmlformats.org/officeDocument/2006/relationships" r:id="Rc59010a70f12444c"/>
  </p:notesMasterIdLst>
  <p:sldIdLst>
    <p:sldId xmlns:r="http://schemas.openxmlformats.org/officeDocument/2006/relationships" id="256" r:id="Rc13f1d61891341dc"/>
    <p:sldId xmlns:r="http://schemas.openxmlformats.org/officeDocument/2006/relationships" id="257" r:id="R9261c76aae474967"/>
    <p:sldId xmlns:r="http://schemas.openxmlformats.org/officeDocument/2006/relationships" id="258" r:id="R4c79986f979a4796"/>
    <p:sldId xmlns:r="http://schemas.openxmlformats.org/officeDocument/2006/relationships" id="259" r:id="R78d27a863ca44788"/>
    <p:sldId xmlns:r="http://schemas.openxmlformats.org/officeDocument/2006/relationships" id="260" r:id="R8d3a891af69648b7"/>
    <p:sldId xmlns:r="http://schemas.openxmlformats.org/officeDocument/2006/relationships" id="261" r:id="R9095298ab9b54d2e"/>
    <p:sldId xmlns:r="http://schemas.openxmlformats.org/officeDocument/2006/relationships" id="262" r:id="Rd2c0956800594a48"/>
    <p:sldId xmlns:r="http://schemas.openxmlformats.org/officeDocument/2006/relationships" id="263" r:id="R068e6bcfa8d8409d"/>
    <p:sldId xmlns:r="http://schemas.openxmlformats.org/officeDocument/2006/relationships" id="264" r:id="R103cd88145f547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01a48b5c2347f5" /><Relationship Type="http://schemas.openxmlformats.org/officeDocument/2006/relationships/slideMaster" Target="/ppt/slideMasters/slideMaster1.xml" Id="R91b059ed82c74516" /><Relationship Type="http://schemas.openxmlformats.org/officeDocument/2006/relationships/notesMaster" Target="/ppt/notesMasters/notesMaster1.xml" Id="Rc59010a70f12444c" /><Relationship Type="http://schemas.openxmlformats.org/officeDocument/2006/relationships/presProps" Target="/ppt/presProps.xml" Id="R0d90ce6d40cf4404" /><Relationship Type="http://schemas.openxmlformats.org/officeDocument/2006/relationships/tableStyles" Target="/ppt/tableStyles.xml" Id="R760500077b6f4a39" /><Relationship Type="http://schemas.openxmlformats.org/officeDocument/2006/relationships/slide" Target="/ppt/slides/slide1.xml" Id="Rc13f1d61891341dc" /><Relationship Type="http://schemas.openxmlformats.org/officeDocument/2006/relationships/slide" Target="/ppt/slides/slide2.xml" Id="R9261c76aae474967" /><Relationship Type="http://schemas.openxmlformats.org/officeDocument/2006/relationships/slide" Target="/ppt/slides/slide3.xml" Id="R4c79986f979a4796" /><Relationship Type="http://schemas.openxmlformats.org/officeDocument/2006/relationships/slide" Target="/ppt/slides/slide4.xml" Id="R78d27a863ca44788" /><Relationship Type="http://schemas.openxmlformats.org/officeDocument/2006/relationships/slide" Target="/ppt/slides/slide5.xml" Id="R8d3a891af69648b7" /><Relationship Type="http://schemas.openxmlformats.org/officeDocument/2006/relationships/slide" Target="/ppt/slides/slide6.xml" Id="R9095298ab9b54d2e" /><Relationship Type="http://schemas.openxmlformats.org/officeDocument/2006/relationships/slide" Target="/ppt/slides/slide7.xml" Id="Rd2c0956800594a48" /><Relationship Type="http://schemas.openxmlformats.org/officeDocument/2006/relationships/slide" Target="/ppt/slides/slide8.xml" Id="R068e6bcfa8d8409d" /><Relationship Type="http://schemas.openxmlformats.org/officeDocument/2006/relationships/slide" Target="/ppt/slides/slide9.xml" Id="R103cd88145f547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173c5107a244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b8a07e2e784f16" /><Relationship Type="http://schemas.openxmlformats.org/officeDocument/2006/relationships/notesMaster" Target="/ppt/notesMasters/notesMaster1.xml" Id="R02df45e57e3f43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4c3be19dcb4982" /><Relationship Type="http://schemas.openxmlformats.org/officeDocument/2006/relationships/notesMaster" Target="/ppt/notesMasters/notesMaster1.xml" Id="Rb46dfdbcbd6945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d46ea9b3304116" /><Relationship Type="http://schemas.openxmlformats.org/officeDocument/2006/relationships/notesMaster" Target="/ppt/notesMasters/notesMaster1.xml" Id="R17e50a363fbb46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1e2f275db1422e" /><Relationship Type="http://schemas.openxmlformats.org/officeDocument/2006/relationships/notesMaster" Target="/ppt/notesMasters/notesMaster1.xml" Id="Rbd70abad024c4e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7debb1bb054b00" /><Relationship Type="http://schemas.openxmlformats.org/officeDocument/2006/relationships/notesMaster" Target="/ppt/notesMasters/notesMaster1.xml" Id="R7d52ac26a6e94a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fb67891d454879" /><Relationship Type="http://schemas.openxmlformats.org/officeDocument/2006/relationships/notesMaster" Target="/ppt/notesMasters/notesMaster1.xml" Id="Red7ea3c990414d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69892ac9ce462f" /><Relationship Type="http://schemas.openxmlformats.org/officeDocument/2006/relationships/notesMaster" Target="/ppt/notesMasters/notesMaster1.xml" Id="R33d116c4cba043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8feebca4324d70" /><Relationship Type="http://schemas.openxmlformats.org/officeDocument/2006/relationships/notesMaster" Target="/ppt/notesMasters/notesMaster1.xml" Id="Rfe07972a618145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09e34fa2dd44d8" /><Relationship Type="http://schemas.openxmlformats.org/officeDocument/2006/relationships/notesMaster" Target="/ppt/notesMasters/notesMaster1.xml" Id="R2566aaf3fc9e46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项目生成检测图：output_images/output_1.jpg。</a:t>
            </a:r>
          </a:p>
          <a:p xmlns:a="http://schemas.openxmlformats.org/drawingml/2006/main">
            <a:r>
              <a:t>- 系统范围与实测说明：docs/THESIS_WRITING.md。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输入图像：test_images/1.jpg。</a:t>
            </a:r>
          </a:p>
          <a:p xmlns:a="http://schemas.openxmlformats.org/drawingml/2006/main">
            <a:r>
              <a:t>- 功能需求与统计边界：docs/THESIS_WRITING.md，第 2、3 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架构与职责：docs/THESIS_WRITING.md，第 2.4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检测、统计与 WebSocket 流程：docs/THESIS_WRITING.md，第 3 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检测输出图：output_images/output_2.jpg。</a:t>
            </a:r>
          </a:p>
          <a:p xmlns:a="http://schemas.openxmlformats.org/drawingml/2006/main">
            <a:r>
              <a:t>- 视频任务与安全删除实现：backend/app/services/project_service.py；docs/THESIS_WRITING.md，第 3.4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真实部署基准：experiments/results/deployment_benchmark/benchmark_results.json。</a:t>
            </a:r>
          </a:p>
          <a:p xmlns:a="http://schemas.openxmlformats.org/drawingml/2006/main">
            <a:r>
              <a:t>- 实验协议：300 张验证图像，IoU=0.50 一对一匹配，RTX 4050；见 benchmark_report.md。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真实阈值对比：experiments/results/deployment_benchmark/benchmark_results.json。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演示流程：docs/DEMO_RUNBOOK.md。</a:t>
            </a:r>
          </a:p>
          <a:p xmlns:a="http://schemas.openxmlformats.org/drawingml/2006/main">
            <a:r>
              <a:t>- 训练曲线：experiments/results/coco2017_yolov8/runs/yolov8n/results.png。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创新点与边界：docs/THESIS_WRITING.md，第 5.3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4131dce41b4a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c7ac6e5d794915" /><Relationship Type="http://schemas.openxmlformats.org/officeDocument/2006/relationships/slideLayout" Target="/ppt/slideLayouts/slideLayout1.xml" Id="Rdba0323d63c14e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a0323d63c14e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2e4bc19634bb8" /><Relationship Type="http://schemas.openxmlformats.org/officeDocument/2006/relationships/image" Target="/ppt/media/image.jpeg" Id="Rb709ac74986a430d" /><Relationship Type="http://schemas.openxmlformats.org/officeDocument/2006/relationships/notesSlide" Target="/ppt/notesSlides/notesSlide1.xml" Id="Ra40b3f7197f54f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0b4185e4b4e04" /><Relationship Type="http://schemas.openxmlformats.org/officeDocument/2006/relationships/image" Target="/ppt/media/image2.jpeg" Id="R1f38cd6707fb41b9" /><Relationship Type="http://schemas.openxmlformats.org/officeDocument/2006/relationships/notesSlide" Target="/ppt/notesSlides/notesSlide2.xml" Id="R7a3e2a08b20c45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50fbe4fa249f8" /><Relationship Type="http://schemas.openxmlformats.org/officeDocument/2006/relationships/notesSlide" Target="/ppt/notesSlides/notesSlide3.xml" Id="R9d40fcdcb04e4c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770a324764061" /><Relationship Type="http://schemas.openxmlformats.org/officeDocument/2006/relationships/notesSlide" Target="/ppt/notesSlides/notesSlide4.xml" Id="Rb1db67a86a8e40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94fbc73be41e6" /><Relationship Type="http://schemas.openxmlformats.org/officeDocument/2006/relationships/image" Target="/ppt/media/image3.jpeg" Id="R56d2e38f222040cf" /><Relationship Type="http://schemas.openxmlformats.org/officeDocument/2006/relationships/notesSlide" Target="/ppt/notesSlides/notesSlide5.xml" Id="R7a218567cbcd46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3f102f5194296" /><Relationship Type="http://schemas.openxmlformats.org/officeDocument/2006/relationships/chart" Target="/ppt/slides/charts/chart1.xml" Id="R0172799102f7458e" /><Relationship Type="http://schemas.openxmlformats.org/officeDocument/2006/relationships/notesSlide" Target="/ppt/notesSlides/notesSlide6.xml" Id="R2bcffc1f92b74d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3a7c4ce4446e6" /><Relationship Type="http://schemas.openxmlformats.org/officeDocument/2006/relationships/chart" Target="/ppt/slides/charts/chart2.xml" Id="R32537deaa0a740e0" /><Relationship Type="http://schemas.openxmlformats.org/officeDocument/2006/relationships/notesSlide" Target="/ppt/notesSlides/notesSlide7.xml" Id="R8c72938eeb914c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53e17b7754b8f" /><Relationship Type="http://schemas.openxmlformats.org/officeDocument/2006/relationships/image" Target="/ppt/media/image.png" Id="Rfdbfe77f45cd4f98" /><Relationship Type="http://schemas.openxmlformats.org/officeDocument/2006/relationships/notesSlide" Target="/ppt/notesSlides/notesSlide8.xml" Id="Rd377d316470343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0182b7e934dd4" /><Relationship Type="http://schemas.openxmlformats.org/officeDocument/2006/relationships/notesSlide" Target="/ppt/notesSlides/notesSlide9.xml" Id="Rffb2dd82bd4a40b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F1 (%)</c:v>
          </c:tx>
          <c:spPr>
            <a:solidFill xmlns:a="http://schemas.openxmlformats.org/drawingml/2006/main">
              <a:srgbClr val="1477D4"/>
            </a:solidFill>
          </c:spPr>
          <c:cat>
            <c:strLit>
              <c:ptCount val="3"/>
              <c:pt idx="0">
                <c:v>YOLOv8n</c:v>
              </c:pt>
              <c:pt idx="1">
                <c:v>YOLOv8s</c:v>
              </c:pt>
              <c:pt idx="2">
                <c:v>YOLOv8m</c:v>
              </c:pt>
            </c:strLit>
          </c:cat>
          <c:val>
            <c:numLit>
              <c:formatCode>General</c:formatCode>
              <c:ptCount val="3"/>
              <c:pt idx="0">
                <c:v>58.97</c:v>
              </c:pt>
              <c:pt idx="1">
                <c:v>58.51</c:v>
              </c:pt>
              <c:pt idx="2">
                <c:v>56.72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2182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6A7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182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Precision</c:v>
          </c:tx>
          <c:spPr>
            <a:ln xmlns:a="http://schemas.openxmlformats.org/drawingml/2006/main" w="28575">
              <a:solidFill>
                <a:srgbClr val="1477D4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3"/>
              <c:pt idx="0">
                <c:v>0.25</c:v>
              </c:pt>
              <c:pt idx="1">
                <c:v>0.40</c:v>
              </c:pt>
              <c:pt idx="2">
                <c:v>0.55</c:v>
              </c:pt>
            </c:numLit>
          </c:cat>
          <c:val>
            <c:numLit>
              <c:formatCode>General</c:formatCode>
              <c:ptCount val="3"/>
              <c:pt idx="0">
                <c:v>64.39704675963905</c:v>
              </c:pt>
              <c:pt idx="1">
                <c:v>78.57988165680473</c:v>
              </c:pt>
              <c:pt idx="2">
                <c:v>86.26198083067092</c:v>
              </c:pt>
            </c:numLit>
          </c:val>
        </c:ser>
        <c:ser>
          <c:idx val="1"/>
          <c:order val="1"/>
          <c:tx>
            <c:v>Recall</c:v>
          </c:tx>
          <c:spPr>
            <a:ln xmlns:a="http://schemas.openxmlformats.org/drawingml/2006/main" w="28575">
              <a:solidFill>
                <a:srgbClr val="09A6A0"/>
              </a:solidFill>
              <a:prstDash val="solid"/>
            </a:ln>
          </c:spPr>
          <c:marker>
            <c:symbol val="diamond"/>
            <c:size val="8"/>
          </c:marker>
          <c:cat>
            <c:numLit>
              <c:formatCode>General</c:formatCode>
              <c:ptCount val="3"/>
              <c:pt idx="0">
                <c:v>0.25</c:v>
              </c:pt>
              <c:pt idx="1">
                <c:v>0.40</c:v>
              </c:pt>
              <c:pt idx="2">
                <c:v>0.55</c:v>
              </c:pt>
            </c:numLit>
          </c:cat>
          <c:val>
            <c:numLit>
              <c:formatCode>General</c:formatCode>
              <c:ptCount val="3"/>
              <c:pt idx="0">
                <c:v>55.792466240227434</c:v>
              </c:pt>
              <c:pt idx="1">
                <c:v>47.192608386638234</c:v>
              </c:pt>
              <c:pt idx="2">
                <c:v>38.37953091684435</c:v>
              </c:pt>
            </c:numLit>
          </c:val>
        </c:ser>
        <c:ser>
          <c:idx val="2"/>
          <c:order val="2"/>
          <c:tx>
            <c:v>F1</c:v>
          </c:tx>
          <c:spPr>
            <a:ln xmlns:a="http://schemas.openxmlformats.org/drawingml/2006/main" w="28575">
              <a:solidFill>
                <a:srgbClr val="D78212"/>
              </a:solidFill>
              <a:prstDash val="solid"/>
            </a:ln>
          </c:spPr>
          <c:marker>
            <c:symbol val="square"/>
            <c:size val="8"/>
          </c:marker>
          <c:cat>
            <c:numLit>
              <c:formatCode>General</c:formatCode>
              <c:ptCount val="3"/>
              <c:pt idx="0">
                <c:v>0.25</c:v>
              </c:pt>
              <c:pt idx="1">
                <c:v>0.40</c:v>
              </c:pt>
              <c:pt idx="2">
                <c:v>0.55</c:v>
              </c:pt>
            </c:numLit>
          </c:cat>
          <c:val>
            <c:numLit>
              <c:formatCode>General</c:formatCode>
              <c:ptCount val="3"/>
              <c:pt idx="0">
                <c:v>59.78674790555979</c:v>
              </c:pt>
              <c:pt idx="1">
                <c:v>58.969804618117216</c:v>
              </c:pt>
              <c:pt idx="2">
                <c:v>53.123462862764384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置信度阈值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6A7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95"/>
          <c:min val="3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6A7E"/>
                </a:solidFill>
              </a:defRPr>
            </a:pPr>
          </a:p>
        </c:txPr>
        <c:crossAx val="48650112"/>
        <c:crossBetween val="between"/>
        <c:majorUnit val="1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E6A7E"/>
              </a:solidFill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04E9C-2E6B-4721-BE3E-AB852FB6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rPr>
              <a:t>毕业设计答辩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9D198-9E0A-42A3-8082-EA370441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00150"/>
            <a:ext cx="581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智能交通目标检测</a:t>
            </a:r>
          </a:p>
          <a:p xmlns:a="http://schemas.openxmlformats.org/drawingml/2006/main">
            <a:pPr algn="l">
              <a:defRPr sz="42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与任务管理系统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3A166-A702-406E-8290-55CF9141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0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图片与视频检测 · 交通统计 · 任务可观测 · 历史可追溯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D9C30-52B4-4F0A-AD50-08442F5D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7D4"/>
          </a:solidFill>
          <a:ln xmlns:a="http://schemas.openxmlformats.org/drawingml/2006/main" w="0">
            <a:solidFill>
              <a:srgbClr val="1477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BD3B7-8F35-4026-ACA6-6BAE3B2D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基于真实训练与部署基准的系统实现与评估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9ac74986a430d"/>
          <a:srcRect xmlns:a="http://schemas.openxmlformats.org/drawingml/2006/main" l="11481" t="0" r="114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552450"/>
            <a:ext cx="3714750" cy="5334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50688-FD50-41FC-AEA3-F8941DE3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24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E10D4-3798-4365-89E4-9CD57943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198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道路车辆检测结果</a:t>
            </a:r>
          </a:p>
        </p:txBody>
      </p:sp>
    </p:spTree>
    <p:extLst>
      <p:ext uri="{BB962C8B-B14F-4D97-AF65-F5344CB8AC3E}">
        <p14:creationId xmlns:p14="http://schemas.microsoft.com/office/powerpoint/2010/main" val="16113094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69D443-DAD8-4588-B2D8-E848431E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rPr>
              <a:t>需求与业务闭环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843A0-6823-403F-A412-813B349F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系统目标是把检测结果变成可管理的交通业务信息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A06AF-56D9-4D60-9BA2-5989EC04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solidFill>
              <a:srgbClr val="CB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77BBD-0EE4-4F86-B792-F73EB36B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38cd6707fb41b9"/>
          <a:srcRect xmlns:a="http://schemas.openxmlformats.org/drawingml/2006/main" l="7704" t="0" r="77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657350"/>
            <a:ext cx="3219450" cy="42100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58056-DD4B-421E-AAF2-DDE34E77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3219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DD92C-FA9F-4CEA-8048-2D0D3F6B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7D4"/>
          </a:solidFill>
          <a:ln xmlns:a="http://schemas.openxmlformats.org/drawingml/2006/main" w="0">
            <a:solidFill>
              <a:srgbClr val="1477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E241A-138B-4D89-B50D-13C42395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76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rPr>
              <a:t>四类目标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6783E-6BA5-4951-BF08-ADA59A73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193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person / car / bus / truck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C3B0E8-B5A4-41FC-8304-9183B828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solidFill>
              <a:srgbClr val="CBD3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2FC47-5655-4025-8E77-571DC598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19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A6A0"/>
          </a:solidFill>
          <a:ln xmlns:a="http://schemas.openxmlformats.org/drawingml/2006/main" w="0">
            <a:solidFill>
              <a:srgbClr val="09A6A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C21C4F-D677-4A3F-A722-5082AF68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86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A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9A6A0"/>
                </a:solidFill>
                <a:latin typeface="Microsoft YaHei"/>
                <a:ea typeface="Microsoft YaHei"/>
                <a:cs typeface="Microsoft YaHei"/>
              </a:rPr>
              <a:t>交通统计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8FF3C-8B49-4811-A68A-F31236CB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2895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分类数量与东西南北车道数量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6A9E76-8FAE-4E3E-832C-548DA02A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67100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solidFill>
              <a:srgbClr val="CB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CFA221-7F41-415B-BBA7-4D64438C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29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76B"/>
          </a:solidFill>
          <a:ln xmlns:a="http://schemas.openxmlformats.org/drawingml/2006/main" w="0">
            <a:solidFill>
              <a:srgbClr val="2997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A027F0-26D7-407E-A3EC-22F72E9F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95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99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9976B"/>
                </a:solidFill>
                <a:latin typeface="Microsoft YaHei"/>
                <a:ea typeface="Microsoft YaHei"/>
                <a:cs typeface="Microsoft YaHei"/>
              </a:rPr>
              <a:t>基准线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8FC700-FFA9-4E6A-BCD4-A3B9D851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386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进入 / 离开方向与累计数量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934F39-170D-40FA-BFA1-1688C8C3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76750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solidFill>
              <a:srgbClr val="CBD3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704A14-8F78-48B8-8973-B7051334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38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212"/>
          </a:solidFill>
          <a:ln xmlns:a="http://schemas.openxmlformats.org/drawingml/2006/main" w="0">
            <a:solidFill>
              <a:srgbClr val="D7821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6F8A0E-C42F-4157-B47C-55E93F9E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82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78212"/>
                </a:solidFill>
                <a:latin typeface="Microsoft YaHei"/>
                <a:ea typeface="Microsoft YaHei"/>
                <a:cs typeface="Microsoft YaHei"/>
              </a:rPr>
              <a:t>任务与记录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2C7EB9-D96A-4D0F-BCCF-6C4A02CD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04825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视频进度、结果媒体与历史追溯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2AF044-493F-49B2-851C-D86177D4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8483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从“识别目标”扩展为“检测 - 统计 - 任务 - 证据”的完整业务闭环。</a:t>
            </a:r>
          </a:p>
        </p:txBody>
      </p:sp>
    </p:spTree>
    <p:extLst>
      <p:ext uri="{BB962C8B-B14F-4D97-AF65-F5344CB8AC3E}">
        <p14:creationId xmlns:p14="http://schemas.microsoft.com/office/powerpoint/2010/main" val="11038755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267C96-220E-4631-9346-5E9E7CC8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rPr>
              <a:t>总体架构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23B69-87C9-45BD-BD0A-B7713623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前后端分层让实时交互、推理任务与数据留存各自可控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9319A-4CA2-4C5D-A745-77D83680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solidFill>
              <a:srgbClr val="CB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8991F-C6DF-42DF-AA37-099DAD76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CDE61-8193-4762-AF52-D2660FD5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33650"/>
            <a:ext cx="990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solidFill>
              <a:srgbClr val="CB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02824-A438-47B4-8727-638AFCA7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860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solidFill>
              <a:srgbClr val="CBD3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5CA05-B804-445A-9F3C-33942F43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90900"/>
            <a:ext cx="990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solidFill>
              <a:srgbClr val="CB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8F38A-70EC-464E-AD0C-16ED5381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432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solidFill>
              <a:srgbClr val="CBD3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35BA1-2ACD-4A14-B106-3443845A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248150"/>
            <a:ext cx="990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solidFill>
              <a:srgbClr val="CBD3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CB070-CC95-4992-BD8B-20CACF78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005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solidFill>
              <a:srgbClr val="CBD3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81888-F45A-46F6-AFC2-A271189C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62100"/>
            <a:ext cx="9677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D997C-E426-4D21-9768-5B041324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62100"/>
            <a:ext cx="1600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7D4"/>
          </a:solidFill>
          <a:ln xmlns:a="http://schemas.openxmlformats.org/drawingml/2006/main" w="9525">
            <a:solidFill>
              <a:srgbClr val="1477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94493-698A-47CB-B4CC-67F2A95F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8117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表现层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BE88EA-AF82-4CFD-ABB6-6A66DEE1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95450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React / Vite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E07CBF-37ED-4FF8-8503-C7633459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3355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图片、视频、任务进度、检测记录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C3D571-D142-4DEE-8B23-E5FAA105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90800"/>
            <a:ext cx="9677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65CA88-9179-4485-A5F4-FED06AD0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90800"/>
            <a:ext cx="1600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A6A0"/>
          </a:solidFill>
          <a:ln xmlns:a="http://schemas.openxmlformats.org/drawingml/2006/main" w="9525">
            <a:solidFill>
              <a:srgbClr val="09A6A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20BD0E-9126-4FF2-83FF-36566A36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987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接口层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AA921-A902-4C54-B7C4-E0F2B866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24150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FastAPI / WebSocket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A0CEF6-9760-40F2-B1AE-8F3F64C4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REST、文件校验、异常响应、实时推送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82E991-EFBF-4366-BCB3-F6A7FC5C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0"/>
            <a:ext cx="9677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96C791-E512-45EE-80D0-160829A8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0"/>
            <a:ext cx="1600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76B"/>
          </a:solidFill>
          <a:ln xmlns:a="http://schemas.openxmlformats.org/drawingml/2006/main" w="9525">
            <a:solidFill>
              <a:srgbClr val="29976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EB31CC-B639-4C42-A539-BBC0E35E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3857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35E1D8-C7D3-49F4-9256-F5FFF13B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52850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检测 / 视频 / 训练服务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3F9B48-EFF9-4D4C-86A9-36F37EA4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9095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YOLO 推理、车道统计、基准线、后台任务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8B3C9F-0DD8-455B-8BD5-B44CC45B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9677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389B39-1E3B-4F72-AE02-54E481DD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1600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212"/>
          </a:solidFill>
          <a:ln xmlns:a="http://schemas.openxmlformats.org/drawingml/2006/main" w="9525">
            <a:solidFill>
              <a:srgbClr val="D7821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569CDC-9CA7-40C8-AF1F-7169DD04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6727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0A4342-9785-44DE-B038-BB529A4C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81550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SQLite / 媒体目录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88BE96-C4BF-4479-8089-359B6CC6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1965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模型、数据集、任务、历史元数据、输出媒体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65E67A-0826-4F42-B09D-CEB9B395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8864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媒体文件只在应用输出目录落盘；数据库保存可查询、可删除的任务与历史元数据。</a:t>
            </a:r>
          </a:p>
        </p:txBody>
      </p:sp>
    </p:spTree>
    <p:extLst>
      <p:ext uri="{BB962C8B-B14F-4D97-AF65-F5344CB8AC3E}">
        <p14:creationId xmlns:p14="http://schemas.microsoft.com/office/powerpoint/2010/main" val="265367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FBA7E0-CE17-4935-BC95-1470748C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rPr>
              <a:t>检测与视频任务流程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982F2-13EB-4344-AD8F-741D8DED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检测流程将输入校验、统计逻辑和异步任务串成一条链路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B176B-3FCD-4CB8-8523-29DA131E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solidFill>
              <a:srgbClr val="CB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5B8F8-1ED8-40D7-9CA4-80AC0096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1DB92-4495-4E16-BF58-ABF1B03E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57525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solidFill>
              <a:srgbClr val="CB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C0CA9-8E11-4B65-98C2-FE1A7B97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7D4"/>
          </a:solidFill>
          <a:ln xmlns:a="http://schemas.openxmlformats.org/drawingml/2006/main" w="0">
            <a:solidFill>
              <a:srgbClr val="1477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A9398-BB95-49B9-BF0A-049A9CED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5C55B6-4910-4D29-BF20-96A7B6AD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rPr>
              <a:t>输入校验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AE7D6-C1FF-48AF-B7C1-FEC64010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1714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格式、大小、基准线参数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1C3E9-06E6-4718-AB56-43DACDFE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81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A6A0"/>
          </a:solidFill>
          <a:ln xmlns:a="http://schemas.openxmlformats.org/drawingml/2006/main" w="0">
            <a:solidFill>
              <a:srgbClr val="09A6A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F8CD5E-5198-4D11-98A5-0DE3FB1E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09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F79F74-A4EA-4546-AF13-E418EF12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33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A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9A6A0"/>
                </a:solidFill>
                <a:latin typeface="Microsoft YaHei"/>
                <a:ea typeface="Microsoft YaHei"/>
                <a:cs typeface="Microsoft YaHei"/>
              </a:rPr>
              <a:t>模型推理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9E426-BC71-4564-99A6-2BC1334E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71900"/>
            <a:ext cx="1714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四类目标、边界框、置信度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CCB3FA-0B37-4737-ABD5-F94126AC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81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976B"/>
          </a:solidFill>
          <a:ln xmlns:a="http://schemas.openxmlformats.org/drawingml/2006/main" w="0">
            <a:solidFill>
              <a:srgbClr val="2997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924F2-2B6D-410E-9916-8A9865A0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09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42A6A2-183F-4E94-8A7C-0C245908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33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99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9976B"/>
                </a:solidFill>
                <a:latin typeface="Microsoft YaHei"/>
                <a:ea typeface="Microsoft YaHei"/>
                <a:cs typeface="Microsoft YaHei"/>
              </a:rPr>
              <a:t>交通统计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FA1B27-8881-461E-AB0A-56C5C1E5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71900"/>
            <a:ext cx="1714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车道区域与跨线 entry / exit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1E4634-772E-4066-90B1-5F2BEC7D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81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212"/>
          </a:solidFill>
          <a:ln xmlns:a="http://schemas.openxmlformats.org/drawingml/2006/main" w="0">
            <a:solidFill>
              <a:srgbClr val="D7821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DD683B-24EB-42F7-ABDD-6480449B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09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94090E-297F-4AA5-BF26-8A6425FC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33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82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78212"/>
                </a:solidFill>
                <a:latin typeface="Microsoft YaHei"/>
                <a:ea typeface="Microsoft YaHei"/>
                <a:cs typeface="Microsoft YaHei"/>
              </a:rPr>
              <a:t>后台任务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C27CC8-938C-4209-9FDE-0F013E8A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71900"/>
            <a:ext cx="1714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queued / running / completed / failed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D8A06A-1B49-4434-B17C-5D9337E2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81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3D3D"/>
          </a:solidFill>
          <a:ln xmlns:a="http://schemas.openxmlformats.org/drawingml/2006/main" w="0">
            <a:solidFill>
              <a:srgbClr val="C53D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EF03C2-82F0-4E4F-B769-F4A3AF5A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09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CD4A3E-C1FB-4A82-B8F8-375534E7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33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3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53D3D"/>
                </a:solidFill>
                <a:latin typeface="Microsoft YaHei"/>
                <a:ea typeface="Microsoft YaHei"/>
                <a:cs typeface="Microsoft YaHei"/>
              </a:rPr>
              <a:t>结果追溯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CC430D-F3A3-4CF2-BD64-115E253F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771900"/>
            <a:ext cx="1714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媒体、模型、耗时与历史记录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2C9E7A-F722-4F13-8258-70397E25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91125"/>
            <a:ext cx="10363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888679-451E-4C3C-AE8B-31D84BA4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81625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视频：每处理 10 帧或到达末帧即更新进度，并通过 WebSocket 推送 video_progress 事件。</a:t>
            </a:r>
          </a:p>
        </p:txBody>
      </p:sp>
    </p:spTree>
    <p:extLst>
      <p:ext uri="{BB962C8B-B14F-4D97-AF65-F5344CB8AC3E}">
        <p14:creationId xmlns:p14="http://schemas.microsoft.com/office/powerpoint/2010/main" val="5528716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830E4D-7485-4D78-B11A-744BD0FF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rPr>
              <a:t>关键实现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93D5B-4A9B-4E7B-A3FF-C55E5195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关键实现让视频任务与历史删除都具有可观察的完成状态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B537C-8303-4F78-BD17-35390CA7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solidFill>
              <a:srgbClr val="CB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19719-F5D9-434F-843F-A9E247E3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d2e38f222040cf"/>
          <a:srcRect xmlns:a="http://schemas.openxmlformats.org/drawingml/2006/main" l="16423" t="0" r="164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714500"/>
            <a:ext cx="2647950" cy="36385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F3C36-170D-4F70-877E-FD4A10F1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检测输出媒体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BAB85F-63F9-4597-8FF4-978CD524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573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视频任务状态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D960F-2EB6-412F-BB3C-D2F0DFD7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43125"/>
            <a:ext cx="129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E6A7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C4F85-2364-455D-A21D-4D3C5DCD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955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queued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A526A-B2F5-4078-A582-3B251587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03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solidFill>
              <a:srgbClr val="CBD3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F8492F-D825-4CEE-9ABC-4E2DEFFA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526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solidFill>
              <a:srgbClr val="CBD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671B4-56E8-4661-AD01-08B0AE98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43125"/>
            <a:ext cx="129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77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9793B-7072-4353-B3E2-F0500B0F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955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rPr>
              <a:t>running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D8309-A44F-41FD-BD65-CBDF49CE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003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solidFill>
              <a:srgbClr val="CB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F7CA7C-C004-403D-AD43-92DA900E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526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solidFill>
              <a:srgbClr val="CBD3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1089A8-6F0A-4758-AF95-C931E150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43125"/>
            <a:ext cx="129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997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C1C4F4-6BB9-43F0-93A9-F4FC3484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955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99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9976B"/>
                </a:solidFill>
                <a:latin typeface="Microsoft YaHei"/>
                <a:ea typeface="Microsoft YaHei"/>
                <a:cs typeface="Microsoft YaHei"/>
              </a:rPr>
              <a:t>completed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6C1B96-3459-4540-B0AC-895F7F59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43125"/>
            <a:ext cx="129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3D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A25BEE-D647-45AB-BD6D-73193073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955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53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53D3D"/>
                </a:solidFill>
                <a:latin typeface="Microsoft YaHei"/>
                <a:ea typeface="Microsoft YaHei"/>
                <a:cs typeface="Microsoft YaHei"/>
              </a:rPr>
              <a:t>failed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0D98F2-325B-402A-B9BE-F2245A3B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3370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任务启动后立即返回 ID；后台逐帧推理并写回进度、结果或异常。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2800DA-8837-430E-BEC3-3E9D2829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290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历史删除安全边界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92A717-0077-4C88-9BC5-C864A7C5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05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7D4"/>
          </a:solidFill>
          <a:ln xmlns:a="http://schemas.openxmlformats.org/drawingml/2006/main" w="0">
            <a:solidFill>
              <a:srgbClr val="1477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38C81D-5CD5-451B-91A9-FE5C5F89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5767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勾选单条或多条记录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1277C7-1DA8-4CA2-ADD9-A9A2E193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24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7D4"/>
          </a:solidFill>
          <a:ln xmlns:a="http://schemas.openxmlformats.org/drawingml/2006/main" w="0">
            <a:solidFill>
              <a:srgbClr val="1477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0F3062-DD70-4483-BF19-58094BF9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67677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删除 SQLite 元数据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F42F37-FE17-465E-84C1-DF73787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43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7D4"/>
          </a:solidFill>
          <a:ln xmlns:a="http://schemas.openxmlformats.org/drawingml/2006/main" w="0">
            <a:solidFill>
              <a:srgbClr val="1477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F69496-AC62-4F90-901A-60FF82D8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09587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仅清理 output_images / output_videos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1269C8-95B1-460D-9119-C7BFB022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562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976B"/>
          </a:solidFill>
          <a:ln xmlns:a="http://schemas.openxmlformats.org/drawingml/2006/main" w="0">
            <a:solidFill>
              <a:srgbClr val="2997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AACB5D-3416-46F5-808F-8DBD81B9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51497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9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9976B"/>
                </a:solidFill>
                <a:latin typeface="Microsoft YaHei"/>
                <a:ea typeface="Microsoft YaHei"/>
                <a:cs typeface="Microsoft YaHei"/>
              </a:rPr>
              <a:t>外部任意路径不删除</a:t>
            </a:r>
          </a:p>
        </p:txBody>
      </p:sp>
    </p:spTree>
    <p:extLst>
      <p:ext uri="{BB962C8B-B14F-4D97-AF65-F5344CB8AC3E}">
        <p14:creationId xmlns:p14="http://schemas.microsoft.com/office/powerpoint/2010/main" val="14200097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95CDF1-0230-4432-A124-B1FA93D1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rPr>
              <a:t>真实模型对比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02825-13DA-4F74-9462-614633A0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默认阈值 0.40 下，YOLOv8n 给出了当前条件下的最佳部署平衡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C6917-90B6-4ABC-9D18-C166E214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solidFill>
              <a:srgbClr val="CB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F6941-15D5-44E8-82AA-DB060808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52450" y="1666875"/>
          <a:ext xmlns:a="http://schemas.openxmlformats.org/drawingml/2006/main" cx="5953125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72799102f7458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216D7-FFEA-4954-9239-1DB1A0C2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固定阈值 F1（%）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8883D-6B92-494D-9268-B894163A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40005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D2A8B-A7C9-4C0A-B53F-B7A312B4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812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rPr>
              <a:t>YOLOv8n 部署依据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71E5C-F2AA-4A5F-B6E2-0A99F56D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527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8BE39-5CEA-40DC-A3E4-8517744E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194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rPr>
              <a:t>58.97%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00A0D-B311-45C7-BBDF-73E02B30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527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推理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5A8D4-B50C-4923-8EFD-428FF273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194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9A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9A6A0"/>
                </a:solidFill>
                <a:latin typeface="Microsoft YaHei"/>
                <a:ea typeface="Microsoft YaHei"/>
                <a:cs typeface="Microsoft YaHei"/>
              </a:rPr>
              <a:t>8.36 ms/图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B931A2-E2BF-4C9A-AFBD-17D2E6D9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24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RSS 增量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AF42B-59CA-4457-B3C5-838B2DA8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90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782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78212"/>
                </a:solidFill>
                <a:latin typeface="Microsoft YaHei"/>
                <a:ea typeface="Microsoft YaHei"/>
                <a:cs typeface="Microsoft YaHei"/>
              </a:rPr>
              <a:t>686.9 MiB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436479-DB9A-4D1B-8DAD-8E914B47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24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GPU 峰值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349995-99A6-4C65-A196-169222C5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90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99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76B"/>
                </a:solidFill>
                <a:latin typeface="Microsoft YaHei"/>
                <a:ea typeface="Microsoft YaHei"/>
                <a:cs typeface="Microsoft YaHei"/>
              </a:rPr>
              <a:t>32.4 MiB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CB0DE-6893-44EA-8E79-DC5BDE98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578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结论只适用于：COCO 交通子集、10 轮训练、300 张验证图像与 RTX 4050 的当前实验条件。</a:t>
            </a:r>
          </a:p>
        </p:txBody>
      </p:sp>
    </p:spTree>
    <p:extLst>
      <p:ext uri="{BB962C8B-B14F-4D97-AF65-F5344CB8AC3E}">
        <p14:creationId xmlns:p14="http://schemas.microsoft.com/office/powerpoint/2010/main" val="6945793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E45B5-3E67-43A9-B680-CB7BD557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rPr>
              <a:t>置信度阈值对比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9013D-376B-4554-A3EE-866AC345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0.40 作为默认阈值，以小幅 F1 换取明显更低的误报风险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78053-F421-4489-B707-30DFB625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solidFill>
              <a:srgbClr val="CB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A90DB-74FF-4BFD-814D-0EF030FC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714500"/>
          <a:ext xmlns:a="http://schemas.openxmlformats.org/drawingml/2006/main" cx="72390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537deaa0a740e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68DB7-563F-46B9-B3FC-469FE306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P / R / F1（%）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554BD6-BEB8-4A93-B7A5-13AF6AB6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62125"/>
            <a:ext cx="2952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97422-01AC-42E7-8371-5C8A0DF0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47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三种运行点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E33A0C-D414-4AFD-AC8B-B8E4AD71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2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78212"/>
                </a:solidFill>
                <a:latin typeface="Microsoft YaHei"/>
                <a:ea typeface="Microsoft YaHei"/>
                <a:cs typeface="Microsoft YaHei"/>
              </a:rPr>
              <a:t>0.25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58755-5467-43BE-9DB1-0674DFE3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860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F1 59.79% 最高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50F9E3-AEB4-47FC-8727-A034B35B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0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solidFill>
              <a:srgbClr val="CBD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F643A-8E0F-4D05-BC3A-312060D1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99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rPr>
              <a:t>0.40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3F2F52-E670-4E0D-B4CC-4B7FFE88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P 78.58%，默认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33D058-21AA-4904-A348-ACEE10A0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81450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solidFill>
              <a:srgbClr val="CB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E0CEE0-CBFF-4ED8-90B5-538DD837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5290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53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53D3D"/>
                </a:solidFill>
                <a:latin typeface="Microsoft YaHei"/>
                <a:ea typeface="Microsoft YaHei"/>
                <a:cs typeface="Microsoft YaHei"/>
              </a:rPr>
              <a:t>0.55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57DF59-BCDC-407D-8C75-63076D3B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719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P 86.26%，但 R 38.38%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082486-434A-4A83-981F-242234FD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默认阈值不是“绝对最优”，而是面向展示场景的保守误报控制选择。</a:t>
            </a:r>
          </a:p>
        </p:txBody>
      </p:sp>
    </p:spTree>
    <p:extLst>
      <p:ext uri="{BB962C8B-B14F-4D97-AF65-F5344CB8AC3E}">
        <p14:creationId xmlns:p14="http://schemas.microsoft.com/office/powerpoint/2010/main" val="10321099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1FC849-D462-47C1-B558-BBB42E2E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rPr>
              <a:t>演示材料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F852E-0FF8-48FE-8EFE-9F7BA68B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答辩演示以四个可观察闭环验证系统不是静态界面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B3A4E-269D-4E10-84A0-6C9694C0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solidFill>
              <a:srgbClr val="CB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A0BCF-27EF-42BD-B01F-51BF9821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05E7B-9F62-437E-A0A5-1E81B582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2300A7-89E8-4495-B7E2-FB0F827C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正常检测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99841-8FE3-415C-96A0-B23CBEEE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383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上传图片，观察检测框、类别、置信度、数量与历史保存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98345-0463-4B18-B071-E0CD8A6C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solidFill>
              <a:srgbClr val="CBD3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99764-B831-4478-B033-1972794A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241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A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A6A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7FB8E-FAAE-4D3E-B4F1-89D01A1A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2412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视频任务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394B0-3C17-41BD-877F-820C0FA9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431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上传 MP4，观察状态、进度、进出统计与输出视频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17A55-553A-4531-B26D-6EAD78E3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6230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solidFill>
              <a:srgbClr val="CBD3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7DBD2-5023-4DC1-81C2-838E3F88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99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997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9EC681-008B-431B-A247-FE2220A8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290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历史删除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5371A2-640E-4BC7-8BD0-368AE936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480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勾选两条记录，确认弹窗、列表更新与刷新后不恢复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0B447D-0457-4CC9-937A-F04ABC3A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67175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solidFill>
              <a:srgbClr val="CBD3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4EFC5A-FBC3-4A59-A2D5-52460820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33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53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53D3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0FAE37-0A7D-48D1-A117-3041CB27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338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异常处理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20D2C7-055B-4416-B9F1-FE24C21E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3529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错误格式或无效基准线，得到明确 400 / 413 / 503 反馈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fe77f45cd4f98"/>
          <a:stretch xmlns:a="http://schemas.openxmlformats.org/drawingml/2006/main"/>
        </p:blipFill>
        <p:spPr>
          <a:xfrm xmlns:a="http://schemas.openxmlformats.org/drawingml/2006/main">
            <a:off x="7524750" y="2400300"/>
            <a:ext cx="3733800" cy="18669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E39FBE-AC89-4A43-BA24-96F0A4EA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6730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真实训练曲线：10 轮内验证指标仍在上升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B4804C-CBE0-4A5B-A68A-1F45EBBF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0"/>
            <a:ext cx="10782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30FC77-CD4F-494D-A121-D90F65D5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267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演示关键：每一步都要展示“操作 - 状态变化 - 可验证结果”，而非只展示按钮。</a:t>
            </a:r>
          </a:p>
        </p:txBody>
      </p:sp>
    </p:spTree>
    <p:extLst>
      <p:ext uri="{BB962C8B-B14F-4D97-AF65-F5344CB8AC3E}">
        <p14:creationId xmlns:p14="http://schemas.microsoft.com/office/powerpoint/2010/main" val="4201590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B215EF-B589-4F20-B995-D731ACC4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rPr>
              <a:t>创新点与边界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1346E-3D92-4441-B06B-B79B6B06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创新点是交通业务闭环，而非仅使用 YOLO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7FF8B-6E6A-45D8-A99B-F404ABDD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solidFill>
              <a:srgbClr val="CB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7F33B-2538-44A6-939D-2F721763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86968-3C7F-424C-BC43-8687126E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71650"/>
            <a:ext cx="3314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5403B5-1DB5-4666-9705-46F00944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71650"/>
            <a:ext cx="3314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7D4"/>
          </a:solidFill>
          <a:ln xmlns:a="http://schemas.openxmlformats.org/drawingml/2006/main" w="0">
            <a:solidFill>
              <a:srgbClr val="1477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20479-2B68-40DD-9E82-6E4E8BAF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77D4"/>
                </a:solidFill>
                <a:latin typeface="Microsoft YaHei"/>
                <a:ea typeface="Microsoft YaHei"/>
                <a:cs typeface="Microsoft YaHei"/>
              </a:rPr>
              <a:t>交通统计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10A5B-2678-45D7-9C08-D642309A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72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在四类道路目标之上输出分类数量、车道区域数量与可配置基准线进出统计。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F8D02-0463-4BCA-8342-3EE0D75E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71650"/>
            <a:ext cx="3314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73CD5-DE26-456C-A654-B3631E97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71650"/>
            <a:ext cx="3314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A6A0"/>
          </a:solidFill>
          <a:ln xmlns:a="http://schemas.openxmlformats.org/drawingml/2006/main" w="0">
            <a:solidFill>
              <a:srgbClr val="09A6A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87DC2-6AB6-4E37-8D57-71E9415C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431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A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A6A0"/>
                </a:solidFill>
                <a:latin typeface="Microsoft YaHei"/>
                <a:ea typeface="Microsoft YaHei"/>
                <a:cs typeface="Microsoft YaHei"/>
              </a:rPr>
              <a:t>实时任务管理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D9A02A-6FDA-4A0C-8F21-BFA0F34B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86050"/>
            <a:ext cx="272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视频检测采用可持久化后台任务与 WebSocket 进度，结果可查询、可追溯。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71FD3D-BF82-4803-828E-C91B70D9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71650"/>
            <a:ext cx="3314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C4265-7225-438D-8CE2-B5433340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71650"/>
            <a:ext cx="3314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76B"/>
          </a:solidFill>
          <a:ln xmlns:a="http://schemas.openxmlformats.org/drawingml/2006/main" w="0">
            <a:solidFill>
              <a:srgbClr val="2997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69C626-224A-4BA1-9C70-570F9741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431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9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9976B"/>
                </a:solidFill>
                <a:latin typeface="Microsoft YaHei"/>
                <a:ea typeface="Microsoft YaHei"/>
                <a:cs typeface="Microsoft YaHei"/>
              </a:rPr>
              <a:t>数据驱动部署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25646-A218-4158-987F-B2316C0C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272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以真实训练、阈值、速度、RSS 与 GPU 显存对比支撑默认选型。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79A58-7FD3-43DD-AA84-141C7C9F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0"/>
            <a:ext cx="10725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5991A-55D7-4C9F-B606-C66D0F36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3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53D3D"/>
                </a:solidFill>
                <a:latin typeface="Microsoft YaHei"/>
                <a:ea typeface="Microsoft YaHei"/>
                <a:cs typeface="Microsoft YaHei"/>
              </a:rPr>
              <a:t>表述边界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1F397A-5B20-4C10-91E4-A93915F2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998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系统集成与工程创新，不把 YOLOv8 或轻量中心点关联表述为新的网络或高精度多目标跟踪算法。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8DB46D-9AF2-410B-B425-2AE61074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579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E"/>
                </a:solidFill>
                <a:latin typeface="Microsoft YaHei"/>
                <a:ea typeface="Microsoft YaHei"/>
                <a:cs typeface="Microsoft YaHei"/>
              </a:rPr>
              <a:t>后续：增加轮次、扩充道路场景、多随机种子与外部测试集。</a:t>
            </a:r>
          </a:p>
        </p:txBody>
      </p:sp>
    </p:spTree>
    <p:extLst>
      <p:ext uri="{BB962C8B-B14F-4D97-AF65-F5344CB8AC3E}">
        <p14:creationId xmlns:p14="http://schemas.microsoft.com/office/powerpoint/2010/main" val="11143938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2026-07-29T20:03:33.4910000Z</dcterms:created>
  <dcterms:modified xsi:type="dcterms:W3CDTF">2026-07-29T20:03:33.4910000Z</dcterms:modified>
</coreProperties>
</file>